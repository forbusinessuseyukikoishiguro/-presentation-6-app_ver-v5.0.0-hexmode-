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2194560"/>
            <a:ext cx="5120640" cy="5120640"/>
          </a:xfrm>
          <a:prstGeom prst="ellipse">
            <a:avLst/>
          </a:prstGeom>
          <a:solidFill>
            <a:srgbClr val="16482D"/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3931920"/>
            <a:ext cx="4572000" cy="4572000"/>
          </a:xfrm>
          <a:prstGeom prst="ellipse">
            <a:avLst/>
          </a:prstGeom>
          <a:solidFill>
            <a:srgbClr val="16482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3152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4245" y="95280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F6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うさうさエンジニア研究室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011680"/>
            <a:ext cx="107899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依存ゼロの単一HTMLに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機能を足し続ける設計とテスト戦略</a:t>
            </a:r>
            <a:endParaRPr lang="en-US" sz="3800" dirty="0"/>
          </a:p>
        </p:txBody>
      </p:sp>
      <p:sp>
        <p:nvSpPr>
          <p:cNvPr id="8" name="Shape 5"/>
          <p:cNvSpPr/>
          <p:nvPr/>
        </p:nvSpPr>
        <p:spPr>
          <a:xfrm>
            <a:off x="868680" y="4343400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E0A43B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434340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中堅エンジニア向け 設計・テスト編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F6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外部依存ゼロ・オフライン・後方互換の制約下で、品質をどう担保するか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5943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C96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v5.5.0  /  内蔵セルフテスト 88項目 ＋ jsdom E2E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38328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  動かせない4つの制約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「ライブラリで殴る」が封じられた環境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96112" y="225856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7105" y="2429561"/>
            <a:ext cx="435254" cy="435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286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外部依存ゼロ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828800" y="28346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CDN・npm・Webフォント不使用。オフライン会場で確実に動く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9659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73952" y="225856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945" y="2429561"/>
            <a:ext cx="435254" cy="435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06640" y="22860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永続化なし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7406640" y="28346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localStorage / sessionStorage 不使用。受講生PCに痕跡を残さない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96112" y="431596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7105" y="4486961"/>
            <a:ext cx="435254" cy="435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後方互換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1828800" y="4892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?. ?? 後読み正規表現を不使用。古いブラウザ対策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217920" y="4023360"/>
            <a:ext cx="53492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73952" y="431596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4945" y="4486961"/>
            <a:ext cx="435254" cy="4352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06640" y="4343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単一ファイル</a:t>
            </a:r>
            <a:endParaRPr lang="en-US" sz="1800" dirty="0"/>
          </a:p>
        </p:txBody>
      </p:sp>
      <p:sp>
        <p:nvSpPr>
          <p:cNvPr id="24" name="Text 18"/>
          <p:cNvSpPr/>
          <p:nvPr/>
        </p:nvSpPr>
        <p:spPr>
          <a:xfrm>
            <a:off x="7406640" y="489204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HTML/CSS/JS を1枚に同梱。配布はコピーのみ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40080" y="61722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標準APIと素のJSをどう組み合わせるかが設計の中心になる。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DESIGN  3つの設計判断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論理的なきれいさ ＜ 既存資産の安定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65960" y="2194560"/>
            <a:ext cx="822960" cy="82296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7011" y="2375611"/>
            <a:ext cx="460858" cy="4608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既存モードに統合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独立した7つ目のモードにせず、クイズ③内に閉じ込めた。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「6モードのテーマ定義」テストの不変条件を壊さないため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61688" y="19202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87568" y="2194560"/>
            <a:ext cx="822960" cy="82296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8619" y="2375611"/>
            <a:ext cx="460858" cy="4608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44568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constクロージャで状態を閉じる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590288" y="3977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qbank / curQ / hintShown をスコープに隠蔽。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90288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テストは内部参照をやめ、DOM観測へ切替（=健全なBB化）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83296" y="1920240"/>
            <a:ext cx="3474720" cy="411480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9409176" y="2194560"/>
            <a:ext cx="822960" cy="82296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27" y="2375611"/>
            <a:ext cx="460858" cy="46085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66176" y="3154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既存ヘルパーを再利用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311896" y="39776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toCSV / toExcelXML / printAsPDF / downloadBlob に乗せる。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311896" y="50292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なぜ：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整形関数だけ足す。表面積を増やさない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65760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DETAIL  入力起点の事故を防ぐ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自由入力は「整形」してから流す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Markdown表（Notion）の崩れ対策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4892040" cy="1691640"/>
          </a:xfrm>
          <a:prstGeom prst="roundRect">
            <a:avLst>
              <a:gd name="adj" fmla="val 4324"/>
            </a:avLst>
          </a:prstGeom>
          <a:solidFill>
            <a:srgbClr val="16482D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2907792"/>
            <a:ext cx="44348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nbCell(s){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String(s==null?'':s)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D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.replace(/\n/g,' ')   // 改行→空白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D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.replace(/\|/g,'｜'); // 半角｜→全角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461772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セル内の改行とパイプを無害化し、テーブル崩れを防ぐ。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965960"/>
            <a:ext cx="5349240" cy="4023360"/>
          </a:xfrm>
          <a:prstGeom prst="roundRect">
            <a:avLst>
              <a:gd name="adj" fmla="val 2273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0" y="2194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一覧描画のXSS対策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0" y="2743200"/>
            <a:ext cx="4892040" cy="1188720"/>
          </a:xfrm>
          <a:prstGeom prst="roundRect">
            <a:avLst>
              <a:gd name="adj" fmla="val 6154"/>
            </a:avLst>
          </a:prstGeom>
          <a:solidFill>
            <a:srgbClr val="16482D"/>
          </a:solidFill>
          <a:ln/>
        </p:spPr>
      </p:sp>
      <p:sp>
        <p:nvSpPr>
          <p:cNvPr id="13" name="Text 11"/>
          <p:cNvSpPr/>
          <p:nvPr/>
        </p:nvSpPr>
        <p:spPr>
          <a:xfrm>
            <a:off x="6629400" y="2907792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li.innerHTML =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'&lt;span&gt;'+escapeHtml(x.q)+'&lt;/span&gt;'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D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...; // 受講生の自由入力をエスケープ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00800" y="411480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自前ツールでも入力起点のXSSは想定する。描画前に必ず escapeHtml を通す。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TEST  2層のテスト戦略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内蔵セルフテスト ＋ jsdom E2E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2468880" cy="1828800"/>
          </a:xfrm>
          <a:prstGeom prst="roundRect">
            <a:avLst>
              <a:gd name="adj" fmla="val 5000"/>
            </a:avLst>
          </a:prstGeom>
          <a:solidFill>
            <a:srgbClr val="FBEFD6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2057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88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内蔵セルフテスト</a:t>
            </a:r>
            <a:endParaRPr lang="en-US" sz="13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項目（自動実行）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39319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21488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1258" y="2289658"/>
            <a:ext cx="358445" cy="35844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251960" y="21945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レイヤー1：内蔵セルフテスト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520440" y="283464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必須未入力で弾く／採番／ヒント段階開示と上限／削除・再採番／出力フォーマット／空配列でも落ちない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406640" y="192024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635240" y="21488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6058" y="2289658"/>
            <a:ext cx="358445" cy="358445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36676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レイヤー2：jsdom 外部E2E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635240" y="2834640"/>
            <a:ext cx="3703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描画されたボタンの実クリックを起点にDOMを観測。クランプ境界・相互排他を固定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023360"/>
            <a:ext cx="10881360" cy="2240280"/>
          </a:xfrm>
          <a:prstGeom prst="roundRect">
            <a:avLst>
              <a:gd name="adj" fmla="val 3265"/>
            </a:avLst>
          </a:prstGeom>
          <a:solidFill>
            <a:srgbClr val="16482D"/>
          </a:solidFill>
          <a:ln/>
        </p:spPr>
      </p:sp>
      <p:sp>
        <p:nvSpPr>
          <p:cNvPr id="19" name="Text 15"/>
          <p:cNvSpPr/>
          <p:nvPr/>
        </p:nvSpPr>
        <p:spPr>
          <a:xfrm>
            <a:off x="868680" y="4187952"/>
            <a:ext cx="1042416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{ JSDOM } = require('jsdom');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dom = new JSDOM(html, { runScripts:'dangerously', pretendToBeVisual:true });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doc.getElementById('q-q').value = '2の3乗は？';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doc.getElementById('q-a').value = '8';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doc.querySelector('.qbtn.play').click();   // 描画ボタンを押す</a:t>
            </a:r>
            <a:endParaRPr lang="en-US" sz="12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9FD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qShowCard が block / 問題文が表示 / 答えは初期非表示 を検証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3566160" cy="384048"/>
          </a:xfrm>
          <a:prstGeom prst="roundRect">
            <a:avLst>
              <a:gd name="adj" fmla="val 50000"/>
            </a:avLst>
          </a:prstGeom>
          <a:solidFill>
            <a:srgbClr val="E7F6EC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PITFALL  事実と仮説を分ける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type="number" と空白文字列の罠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F7E2D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56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当初テストが落ちた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2971800"/>
            <a:ext cx="4892040" cy="1371600"/>
          </a:xfrm>
          <a:prstGeom prst="roundRect">
            <a:avLst>
              <a:gd name="adj" fmla="val 5333"/>
            </a:avLst>
          </a:prstGeom>
          <a:solidFill>
            <a:srgbClr val="16482D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3136392"/>
            <a:ext cx="44348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D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ci.value = ' 60 ';   // 前後に空白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7F6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applyCustomSec();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9FD9B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期待：60 → 実際は通らない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68680" y="452628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原因：テストコード側の誤り。&lt;input type="number"&gt; は不正な数値文字列を .value に保持できず空文字へサニタイズする。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1965960"/>
            <a:ext cx="5349240" cy="3657600"/>
          </a:xfrm>
          <a:prstGeom prst="roundRect">
            <a:avLst>
              <a:gd name="adj" fmla="val 2500"/>
            </a:avLst>
          </a:prstGeom>
          <a:solidFill>
            <a:srgbClr val="E7F6EC"/>
          </a:solidFill>
          <a:ln w="12700">
            <a:solidFill>
              <a:srgbClr val="D5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00800" y="21945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1618" y="2335378"/>
            <a:ext cx="358445" cy="35844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22402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C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切り分けの原則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00800" y="2971800"/>
            <a:ext cx="49377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ツールの挙動は正しい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期待値が現実とズレていただけ</a:t>
            </a:r>
            <a:endParaRPr lang="en-US" sz="135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3311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テストを実態に合わせて修正し全緑へ</a:t>
            </a:r>
            <a:endParaRPr lang="en-US" sz="1350" dirty="0"/>
          </a:p>
          <a:p>
            <a:pPr marL="203200" indent="-203200">
              <a:buSzPct val="100000"/>
              <a:buChar char="•"/>
            </a:pPr>
            <a:r>
              <a:rPr lang="en-US" sz="1350" b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「落ちた＝プロダクトが悪い」とは限らない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5C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6482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868680" cy="8686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070" y="831190"/>
            <a:ext cx="486461" cy="4864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74520" y="7315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設計判断のまとめ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68680" y="1783080"/>
          <a:ext cx="74980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7548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判断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何を優先したか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A4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既存モードに統合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ED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既存テストの不変条件の安定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A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const クロージャ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ED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カプセル化（テストはDOM観測へ）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ヘルパー再利用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ED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表面積を増やさない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A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出力の無害化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ED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パイプ全角化・HTMLエスケープ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3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2層テスト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ED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内蔵88項目 ＋ jsdom E2E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6A4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仕様の罠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3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DCEED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テストの期待値を実態に合わせる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5C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34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8595360" y="210312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E0A4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地味な制約は、裏を返せば標準APIと素のJSの理解がそのまま品質になる環境。🐰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依存ゼロ単一HTMLの設計とテスト戦略（中堅向け）</dc:title>
  <dc:subject>PptxGenJS Presentation</dc:subject>
  <dc:creator>うさうさエンジニア研究室</dc:creator>
  <cp:lastModifiedBy>うさうさエンジニア研究室</cp:lastModifiedBy>
  <cp:revision>1</cp:revision>
  <dcterms:created xsi:type="dcterms:W3CDTF">2026-06-02T08:50:15Z</dcterms:created>
  <dcterms:modified xsi:type="dcterms:W3CDTF">2026-06-02T08:50:15Z</dcterms:modified>
</cp:coreProperties>
</file>